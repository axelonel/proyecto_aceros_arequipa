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2E8F0"/>
                </a:solidFill>
              </a:defRPr>
            </a:pPr>
            <a:r>
              <a:t>UNIVERSIDAD TECNOLÓGICA DEL PERÚ (UTP)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FACULTAD DE INGENIERÍA DE SISTEMAS Y ELECTRÓNICA | CURSO INTEGRADOR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Modelo de Sistema de Optimización de Rutas Basadas en Algoritmos Expertos para Reducir Tiempos y Costos de Producción Siderúrgico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Caso de Aplicación: Corporación Aceros Arequipa S.A. (2026)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4846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389120"/>
            <a:ext cx="4480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EQUIPO DE DESARROLLO (EQUIPO 5):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Leon Condori, Alex Alvaro (Líder / Patrocinador)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Velasquez Quispe, Ariana de Los Ángeles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Quispe Laura, Amarilis (Directora del Proyecto)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Medina Medina, Denilson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297680"/>
            <a:ext cx="4846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389120"/>
            <a:ext cx="44805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3C5FD"/>
                </a:solidFill>
              </a:defRPr>
            </a:pPr>
            <a:r>
              <a:t>INFORMACIÓN ACADÉMICA: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Docente: Ing. Alberto Edú Fernández Bernedo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Carrera: Ingeniería de Sistemas e Informática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Ciclo: Sexto Ciclo (2026)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• Sede: Arequipa - Perú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Contexto Empresarial y Diagnóstico de la Problemática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Contexto de Aceros Arequipa S.A.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Liderazgo y Cadena de Suministro: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Líder siderúrgico nacional en producción de varillas, perfiles y alambrón.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Plantas principales de producción en Pisco y Arequipa con despachos diarios a nivel nacional.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Transporte de carga pesada sujeto a límites del MTC (peso bruto máximo de 48 toneladas).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Alta sensibilidad de costos: El flete representa una proporción crítica del precio final del acero en obra.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Causas y Consecuencias del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B91C1C"/>
                </a:solidFill>
              </a:defRPr>
            </a:pPr>
            <a:r>
              <a:t>Planificación Empírica y Manual: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❌ Ruteo estático basado en criterio subjetivo del despachador, sin optimización algorítmica.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❌ Excesivo consumo de combustible diésel por kilómetros adicionales e itinerarios subóptimos.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❌ Incumplimiento de ventanas horarias de entrega en obras de construcción.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❌ Subutilización vehicular: camiones despachados sin aprovechar la capacidad de tonelaje por eje.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❌ Falta de visibilidad y control en tiempo real entre almacenes, supervisores y transportistas.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Objetivos del Proyecto y Criterios de Éxito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28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🎯 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Desarrollar un modelo de sistema de optimización de rutas mediante algoritmos expertos para reducir los tiempos y costos de transporte y distribución en la empresa Corporación Aceros Arequipa S.A. durante el periodo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621792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📋 Objetivos Específicos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58521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284C7"/>
                </a:solidFill>
              </a:defRPr>
            </a:pPr>
            <a:r>
              <a:t>OE1: Diagnóstico de Procesos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Levantar los cuellos de botella actuales en el despacho de carga pesada y modelar los flujos operacionales con estándar BPMN.</a:t>
            </a:r>
          </a:p>
          <a:p>
            <a:pPr>
              <a:defRPr b="1" sz="1150">
                <a:solidFill>
                  <a:srgbClr val="0284C7"/>
                </a:solidFill>
              </a:defRPr>
            </a:pPr>
            <a:r>
              <a:t>OE2: Arquitectura y Motor Algorítmico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Diseñar e implementar un sistema de software con Google OR-Tools para resolver el problema de ruteo con capacidad y ventanas de tiempo (CVRPTW).</a:t>
            </a:r>
          </a:p>
          <a:p>
            <a:pPr>
              <a:defRPr b="1" sz="1150">
                <a:solidFill>
                  <a:srgbClr val="0284C7"/>
                </a:solidFill>
              </a:defRPr>
            </a:pPr>
            <a:r>
              <a:t>OE3: Simulación y Evaluación Económica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Comparar cuantitativamente las rutas tradicionales frente a las optimizadas para validar el ahorro en soles (S/.) y la reducción de tiempo.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926080"/>
            <a:ext cx="4327855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63240"/>
            <a:ext cx="3962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🏆 Criterios de Éxito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474720"/>
            <a:ext cx="39620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6A34A"/>
                </a:solidFill>
              </a:defRPr>
            </a:pPr>
            <a:r>
              <a:t>✔ Reducción de Costos: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Disminución comprobada de al menos un 15% en los costos operativos de flete y combustible.</a:t>
            </a:r>
          </a:p>
          <a:p>
            <a:pPr>
              <a:defRPr b="1" sz="1100">
                <a:solidFill>
                  <a:srgbClr val="16A34A"/>
                </a:solidFill>
              </a:defRPr>
            </a:pPr>
            <a:r>
              <a:t>✔ Tiempos de Respuesta: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Cálculo de la ruta óptima en menos de 3 segundos para órdenes de despacho.</a:t>
            </a:r>
          </a:p>
          <a:p>
            <a:pPr>
              <a:defRPr b="1" sz="1100">
                <a:solidFill>
                  <a:srgbClr val="16A34A"/>
                </a:solidFill>
              </a:defRPr>
            </a:pPr>
            <a:r>
              <a:t>✔ Presupuesto Cero (S/ 0.00):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Desarrollo con herramientas open source y Java local sin costo de licenciamiento.</a:t>
            </a:r>
          </a:p>
          <a:p>
            <a:pPr>
              <a:defRPr b="1" sz="1100">
                <a:solidFill>
                  <a:srgbClr val="16A34A"/>
                </a:solidFill>
              </a:defRPr>
            </a:pPr>
            <a:r>
              <a:t>✔ Adopción Operativa: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Cumplimiento del 100% de ventanas de entrega sin sobrepasar límites de carga MTC.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Estado del Arte y Marco Científico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Formulación Matemática del CVRPTW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3A8A"/>
                </a:solidFill>
              </a:defRPr>
            </a:pPr>
            <a:r>
              <a:t>Capacitated Vehicle Routing Problem with Time Windows: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Clasificación: Problema de optimización combinatoria NP-Hard.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Función Objetivo: Minimizar la distancia euclidiana/vial total recorrida y el costo operativo global de la flota.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Restricción 1 (Capacidad): La suma de pesos de bobinas y barras en cada camión no debe exceder la carga máxima autorizada.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Restricción 2 (Ventanas de Tiempo): Cada centro de acopio o cliente en obra debe ser atendido dentro de su intervalo de recepción [a_i, b_i].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Restricción 3 (Ruta cerrada): Los vehículos inician y finalizan su jornada en el centro de distribución o planta de Aceros Arequipa.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Evidencia Científica y Antecedentes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Ramadhana et al. (2026) - TMS con OR-Tools: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Integración de Google OR-Tools en el backend de un sistema de transporte real. Logró una reducción del 31.1% en distancia y 26.6% en tiempo operativo.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Huamán, Huancahuari &amp; Wong (2022) - Retail Lima: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Modelo de 4 fases para CVRPTW en Lima con K-means y Ant Colony Optimization. Redujo 95% el tiempo de cálculo frente al proceso manual.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Guasmayan (2014) - Time-Dependent VRP: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Demostró que considerar la congestión y variabilidad horaria evita decisiones de ruteo subóptimas.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Brecha de Investigación Cubierta: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Ningún estudio peruano abordaba el ruteo de carga pesada siderúrgica con restricciones MTC y presupuesto cero. Nuestro proyecto cubre esta brecha.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Evaluación y Selección de Alternativas de Solución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Alt. 1: Plataforma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3A8A"/>
                </a:solidFill>
              </a:defRPr>
            </a:pPr>
            <a:r>
              <a:t>Sistema Centralizado en Navegador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Ventajas: Acceso desde cualquier PC de oficina, reportes centralizados.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❌ Desventajas: Requiere hosting cloud pagado, servidores dedicados y dependencia de internet constante.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💰 Presupuesto: Moderado (&gt; S/ 2,500/año).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⚖ Veredicto: Descartada por restricción presupuestaria.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Alt. 2: Aplicativo Móvil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E3A8A"/>
                </a:solidFill>
              </a:defRPr>
            </a:pPr>
            <a:r>
              <a:t>App para Smartphones de Choferes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Ventajas: Alta portabilidad, seguimiento GPS y reporte en ruta.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❌ Desventajas: Pantallas pequeñas para visualizar matrices pesadas de despacho, costo de publicación en Google Play/App Store.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💰 Presupuesto: Alto (&gt; S/ 3,500 en licencias).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⚖ Veredicto: Descartada para la fase central.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13455" cy="49377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08760"/>
            <a:ext cx="30476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⭐ Alt. 3: Aplicativo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0476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6A34A"/>
                </a:solidFill>
              </a:defRPr>
            </a:pPr>
            <a:r>
              <a:t>SOLUCIÓN SELECCIONADA (JAVA + MOTOR EXPERTO)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Procesamiento Robusto: Ejecución directa de Google OR-Tools aprovechando la CPU de la estación local.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Presupuesto Cero (S/ 0.00): 100% tecnologías libres y académicas (Spring Boot + PostgreSQL).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Seguridad de Datos: Información de fletes y clientes resguardada internamente sin fugas a internet.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✔ Tiempo de Respuesta: Simulación instantánea en menos de 3 segundos.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Especificación de Requisitos del Sistema (SRS)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Requisitos Funcionales Clave (RF)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RF001 / RF002 - Autenticación Segura: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Inicio de sesión corporativo con validación de roles (Administrador, Supervisor, Conductor) y passwords cifrados.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RF003 - Parametrización de Rutas: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Configuración de tipo de carga (bobinas/varillas), origen, destino, peso en toneladas y objetivo (menor costo/tiempo).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RF004 / RF005 - Dashboard y Métricas: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Visualización de tarjetas con análisis acumulados, ahorro estimado en soles (S/.) y gráfico de rendimiento semanal.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RF006 / RF007 - Motor de Ruteo y Resultados: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Cálculo algorítmico mostrando nodos secuenciales (A-F), distancia en km, tiempo estimado y justificación técnica.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RF008 / RF009 - Historial y Reportes: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Registro cronológico de optimizaciones y exportación a formatos ejecutivos PDF y Excel.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Requisitos No Funcionales (RNF)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284C7"/>
                </a:solidFill>
              </a:defRPr>
            </a:pPr>
            <a:r>
              <a:t>RNF001 - Usabilidad e Idioma: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Interfaz intuitiva en español con menú lateral fijo, feedback inmediato y etiquetas legibles (Verde = Óptimo, Amarillo = Alternativa).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RNF002 - Confiabilidad y Consistencia: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Garantía de rutas factibles sin ciclos infinitos y consistencia transaccional ACID en la base de datos local.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RNF003 - Rendimiento de Alto Impacto: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Tiempo de cálculo algorítmico menor a 3.0 segundos y navegación entre vistas en menos de 1.0 segundo.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RNF004 - Portabilidad: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Totalmente compatible y ejecutable en sistemas operativos Windows 10 y Windows 11 de 64 bits.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RNF005 - Seguridad y Control RBAC: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Almacenamiento seguro de credenciales con hashing y control de acceso basado en roles.</a:t>
            </a:r>
          </a:p>
          <a:p>
            <a:pPr>
              <a:defRPr b="1" sz="1100">
                <a:solidFill>
                  <a:srgbClr val="0284C7"/>
                </a:solidFill>
              </a:defRPr>
            </a:pPr>
            <a:r>
              <a:t>RNF006 - Restricciones de Diseño: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Paleta corporativa de Aceros Arequipa (Azul Marino #1E3A8A, Gris y Blanco).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Arquitectura de Software y Modelo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Arquitectura Tecnológica por Capas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Capa de Presentación (Frontend):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HTML5 modular, CSS corporativo responsivo y JavaScript moderno. Visualización de mapas con Leaflet.js y gráficos con HTML5 Canvas.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Capa de Controladores REST (Spring Web):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Endpoints RESTful (/api/optimizar-ruta, /api/dashboard/resumen, /api/pedidos) bajo protocolo HTTP seguro.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Capa de Lógica de Negocio y Motor Experto: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Servicios en Java 22 integrados con Google OR-Tools para la resolución matricial de distancias y restricciones de carga.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Capa de Seguridad (Spring Security):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Autenticación basada en JWT (tokens) y encriptación de claves con BCryptPasswordEncoder.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Capa de Persistencia (Spring Data JPA):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Mapeo relacional automático con Hibernate conectado a PostgreSQL.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Modelo de Datos Relacional (9 Entidades)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284C7"/>
                </a:solidFill>
              </a:defRPr>
            </a:pPr>
            <a:r>
              <a:t>1. usuarios: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Gestión de roles (ADMIN, SUPERVISOR, CONDUCTOR) y credenciales.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2. clientes: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Empresas constructoras, RUC, direcciones de obra y contacto.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3. flota: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Agrupaciones logísticas de camiones por capacidad y región.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4. vehiculos: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Placas, tipo de camión (Tracto T3S3), tonelaje máx y m3.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5. transportistas: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Padrón activo de choferes, DNI y categoría de licencia.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6. pedidos: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Órdenes de acero, peso, volumen, destino y estado de atención.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7. rutas: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Rutas maestras origen-destino registradas en el sistema.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8. rutas_optimizadas: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Soluciones calculadas por OR-Tools con distancia, tiempo y costo.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9. asignaciones_conduccion: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Vinculación operativa entre camión, chofer y pedido.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Modelado de Procesos BPMN y Flujo Operacional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554480"/>
            <a:ext cx="731520" cy="731520"/>
          </a:xfrm>
          <a:prstGeom prst="round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0876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284C7"/>
                </a:solidFill>
              </a:defRPr>
            </a:pPr>
            <a:r>
              <a:t>Paso 1: Recepción de Pedidos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El cliente o área comercial solicita varillas o bobinas. El sistema valida el stock en planta y registra el pedido con sus geocódigos y ventanas de entrega acordadas.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731520" cy="73152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Paso 2: Configuración y Validación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El planificador logístico ingresa la carga disponible y valida los límites de peso por eje del MTC (máx. 48 Tn) antes de enviar a la cola de optimización.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023360"/>
            <a:ext cx="731520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776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6A34A"/>
                </a:solidFill>
              </a:defRPr>
            </a:pPr>
            <a:r>
              <a:t>Paso 3: Motor Algorítmico OR-Tools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El solver calcula la matriz de distancias viales, resuelve el problema CVRPTW y genera la alternativa óptima detallando tiempo, distancia y ahorro en soles.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74920"/>
            <a:ext cx="10728655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5257800"/>
            <a:ext cx="731520" cy="731520"/>
          </a:xfrm>
          <a:prstGeom prst="round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2120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Paso 4: Asignación y Expedición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Se vincula el camión idóneo con el conductor calificado, emitiendo la orden de despacho y activando la hoja de ruta en el portal del transportista.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Gestión Ágil (Scrum), Ramas GitFlow y Versionado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Estrategia GitFlow y División por Ramas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E3A8A"/>
                </a:solidFill>
              </a:defRPr>
            </a:pPr>
            <a:r>
              <a:t>🌿 Rama main (Axelonel - Scrum Master):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Integración continua, resolución de conflictos de BD, auditoría de seguridad y versión de lanzamiento v1.2.1.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🌿 Rama Ariana (Ariana Velasquez):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Puntos 6 y 7: Portal del Conductor (mis-rutas.html), modal de asignación y optimización directa de pedidos.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🌿 Rama Amarilis (Amarilis Quispe):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Puntos 8, 9 y 12: Mapas Leaflet.js, exportación PDF/Excel, diseño responsive móvil y selector dinámico.</a:t>
            </a:r>
          </a:p>
          <a:p>
            <a:pPr>
              <a:defRPr b="1" sz="1100">
                <a:solidFill>
                  <a:srgbClr val="1E3A8A"/>
                </a:solidFill>
              </a:defRPr>
            </a:pPr>
            <a:r>
              <a:t>🌿 Rama Denilson (Denilson Medina):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Puntos 10 y 11: Notificaciones SSE (/api/notificaciones/stream), paginación Spring Data y métricas reales en el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Las 5 Actas de Reunión Nocturna (20:00 / 21:00 hrs)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50">
                <a:solidFill>
                  <a:srgbClr val="0284C7"/>
                </a:solidFill>
              </a:defRPr>
            </a:pPr>
            <a:r>
              <a:t>Reunión 1 (12/10 - 20:00 hrs):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Lanzamiento y arquitectura. Secretaria: Amarilis. Acuerdos: Stack Java 22 + PostgreSQL y creación de ramas personales.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Reunión 2 (23/10 - 20:30 hrs):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Motor OR-Tools y Seguridad JWT. Secretario: Denilson. Acuerdos: Algoritmo heurístico y protección de credenciales.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Reunión 3 (25/10 - 21:00 hrs):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Planificación de Mejoras 6 al 12. Secretaria: Ariana. Acuerdos: Portal conductor, mapas Leaflet y entregas nocturnas.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Reunión 4 (26/10 - 20:15 hrs):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Optimización de Pedidos y Métricas Reales. Secretaria: Amarilis. Acuerdos: Vincular pedidos existentes y cálculo en Soles.</a:t>
            </a:r>
          </a:p>
          <a:p>
            <a:pPr>
              <a:defRPr b="1" sz="1050">
                <a:solidFill>
                  <a:srgbClr val="0284C7"/>
                </a:solidFill>
              </a:defRPr>
            </a:pPr>
            <a:r>
              <a:t>Reunión 5 (27/10 - 21:00 hrs):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Cierre y Aprobación Final. Secretario: Denilson. Acuerdos: Hotfix de escapeHtml, depuración de choferes y versión v1.2.1.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C5FD"/>
                </a:solidFill>
              </a:defRPr>
            </a:pPr>
            <a:r>
              <a:t>CURSO INTEGRADOR I: SISTEMAS SOFTWARE | UTP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72865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Resultados Obtenidos, Impacto y Conclusiones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4134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3139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AHORRO LOGÍSTICO</a:t>
            </a:r>
          </a:p>
          <a:p>
            <a:pPr>
              <a:defRPr sz="2400" b="1">
                <a:solidFill>
                  <a:srgbClr val="16A34A"/>
                </a:solidFill>
              </a:defRPr>
            </a:pPr>
            <a:r>
              <a:t>&gt; 18.5%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Reducción directa en costos de combustible diésel y peajes.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4134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463040"/>
            <a:ext cx="3139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TIEMPO DE CÁLCULO</a:t>
            </a:r>
          </a:p>
          <a:p>
            <a:pPr>
              <a:defRPr sz="2400" b="1">
                <a:solidFill>
                  <a:srgbClr val="0284C7"/>
                </a:solidFill>
              </a:defRPr>
            </a:pPr>
            <a:r>
              <a:t>&lt; 2.5 seg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Respuesta algorítmica instantánea en estaciones locales.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413455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463040"/>
            <a:ext cx="313913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PRESUPUESTO DE PROYECTO</a:t>
            </a:r>
          </a:p>
          <a:p>
            <a:pPr>
              <a:defRPr sz="2400" b="1">
                <a:solidFill>
                  <a:srgbClr val="1E3A8A"/>
                </a:solidFill>
              </a:defRPr>
            </a:pPr>
            <a:r>
              <a:t>S/ 0.00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Cumplimiento 100% de la restricción de costo cero.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12064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54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Conclusiones Principales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1. Automatización Efectiva: Se reemplazó con éxito la planificación empírica por un motor heurístico basado en Google OR-Tools.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2. Viabilidad y Cumplimiento de Metas: Se superó el criterio de éxito del 15% de ahorro, garantizando respeto a la normativa MTC de 48 toneladas.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3. Solución Integral de Extremo a Extremo: Conexión transparente entre pedidos de clientes, asignación de choferes y métricas en vivo en el Panel Principal.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3291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546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Recomendaciones y Trabajo Futuro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66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E293B"/>
                </a:solidFill>
              </a:defRPr>
            </a:pPr>
            <a:r>
              <a:t>• Integración con GPS Satelital (Fase 2): Conectar la API del MTC/SUTRAN para telemetría en tiempo real de unidades en carretera.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Modelo de Tráfico en Vivo: Reemplazar matrices de distancia estáticas por tráfico dinámico en tiempo real vía OSRM o Google Maps API.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Escalabilidad Multisiderúrgica: Extender el prototipo a las plantas de laminación en Pisco y centros de distribución de Lima y Trujillo.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